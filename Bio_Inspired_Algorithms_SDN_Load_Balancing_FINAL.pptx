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15"/>
    <p:sldId id="258" r:id="rId16"/>
  </p:sldIdLst>
  <p:sldSz cx="18288000" cy="10287000"/>
  <p:notesSz cx="6858000" cy="9144000"/>
  <p:embeddedFontLst>
    <p:embeddedFont>
      <p:font typeface="TT Rounds Condensed Italics" charset="1" panose="02000506030000090003"/>
      <p:regular r:id="rId18"/>
    </p:embeddedFont>
    <p:embeddedFont>
      <p:font typeface="TT Rounds Condensed Bold" charset="1" panose="02000806030000020003"/>
      <p:regular r:id="rId19"/>
    </p:embeddedFont>
    <p:embeddedFont>
      <p:font typeface="TT Rounds Condensed Bold Italics" charset="1" panose="02000806030000090003"/>
      <p:regular r:id="rId20"/>
    </p:embeddedFont>
    <p:embeddedFont>
      <p:font typeface="Arimo Bold" charset="1" panose="020B0704020202020204"/>
      <p:regular r:id="rId21"/>
    </p:embeddedFont>
    <p:embeddedFont>
      <p:font typeface="Times New Roman MT Bold" charset="1" panose="02030802070405020303"/>
      <p:regular r:id="rId22"/>
    </p:embeddedFont>
    <p:embeddedFont>
      <p:font typeface="Archivo Black" charset="1" panose="020B0A03020202020B04"/>
      <p:regular r:id="rId23"/>
    </p:embeddedFont>
    <p:embeddedFont>
      <p:font typeface="TT Rounds Condensed" charset="1" panose="02000506030000020003"/>
      <p:regular r:id="rId24"/>
    </p:embeddedFont>
    <p:embeddedFont>
      <p:font typeface="Times New Roman MT" charset="1" panose="020305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1000" t="-1000" r="100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6632" y="9080691"/>
            <a:ext cx="18294630" cy="658796"/>
            <a:chOff x="0" y="0"/>
            <a:chExt cx="24392840" cy="8783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92889" cy="878332"/>
            </a:xfrm>
            <a:custGeom>
              <a:avLst/>
              <a:gdLst/>
              <a:ahLst/>
              <a:cxnLst/>
              <a:rect r="r" b="b" t="t" l="l"/>
              <a:pathLst>
                <a:path h="878332" w="24392889">
                  <a:moveTo>
                    <a:pt x="0" y="0"/>
                  </a:moveTo>
                  <a:lnTo>
                    <a:pt x="24392889" y="0"/>
                  </a:lnTo>
                  <a:lnTo>
                    <a:pt x="24392889" y="878332"/>
                  </a:lnTo>
                  <a:lnTo>
                    <a:pt x="0" y="8783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3296" y="8852978"/>
            <a:ext cx="68579" cy="920821"/>
            <a:chOff x="0" y="0"/>
            <a:chExt cx="91438" cy="1227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" cy="1227709"/>
            </a:xfrm>
            <a:custGeom>
              <a:avLst/>
              <a:gdLst/>
              <a:ahLst/>
              <a:cxnLst/>
              <a:rect r="r" b="b" t="t" l="l"/>
              <a:pathLst>
                <a:path h="1227709" w="91440">
                  <a:moveTo>
                    <a:pt x="0" y="0"/>
                  </a:moveTo>
                  <a:lnTo>
                    <a:pt x="91440" y="0"/>
                  </a:lnTo>
                  <a:lnTo>
                    <a:pt x="91440" y="1227709"/>
                  </a:lnTo>
                  <a:lnTo>
                    <a:pt x="0" y="122770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260286" y="8909820"/>
            <a:ext cx="1937658" cy="1736409"/>
            <a:chOff x="0" y="0"/>
            <a:chExt cx="2583544" cy="23152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3561" cy="2315210"/>
            </a:xfrm>
            <a:custGeom>
              <a:avLst/>
              <a:gdLst/>
              <a:ahLst/>
              <a:cxnLst/>
              <a:rect r="r" b="b" t="t" l="l"/>
              <a:pathLst>
                <a:path h="2315210" w="2583561">
                  <a:moveTo>
                    <a:pt x="0" y="0"/>
                  </a:moveTo>
                  <a:lnTo>
                    <a:pt x="0" y="2315210"/>
                  </a:lnTo>
                  <a:lnTo>
                    <a:pt x="2583561" y="0"/>
                  </a:lnTo>
                  <a:close/>
                </a:path>
              </a:pathLst>
            </a:custGeom>
            <a:solidFill>
              <a:srgbClr val="F2F2F2">
                <a:alpha val="2745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68155" y="-97440"/>
            <a:ext cx="7719843" cy="8778660"/>
            <a:chOff x="0" y="0"/>
            <a:chExt cx="10293124" cy="1170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93096" cy="11704828"/>
            </a:xfrm>
            <a:custGeom>
              <a:avLst/>
              <a:gdLst/>
              <a:ahLst/>
              <a:cxnLst/>
              <a:rect r="r" b="b" t="t" l="l"/>
              <a:pathLst>
                <a:path h="11704828" w="10293096">
                  <a:moveTo>
                    <a:pt x="10293096" y="11704828"/>
                  </a:moveTo>
                  <a:lnTo>
                    <a:pt x="10293096" y="0"/>
                  </a:lnTo>
                  <a:lnTo>
                    <a:pt x="0" y="11704828"/>
                  </a:lnTo>
                  <a:close/>
                </a:path>
              </a:pathLst>
            </a:custGeom>
            <a:solidFill>
              <a:srgbClr val="F2F2F2">
                <a:alpha val="2745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75422" y="2424970"/>
            <a:ext cx="10244138" cy="4078224"/>
            <a:chOff x="0" y="0"/>
            <a:chExt cx="13658850" cy="54376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8850" cy="5437635"/>
            </a:xfrm>
            <a:custGeom>
              <a:avLst/>
              <a:gdLst/>
              <a:ahLst/>
              <a:cxnLst/>
              <a:rect r="r" b="b" t="t" l="l"/>
              <a:pathLst>
                <a:path h="5437635" w="13658850">
                  <a:moveTo>
                    <a:pt x="0" y="0"/>
                  </a:moveTo>
                  <a:lnTo>
                    <a:pt x="13658850" y="0"/>
                  </a:lnTo>
                  <a:lnTo>
                    <a:pt x="13658850" y="5437635"/>
                  </a:lnTo>
                  <a:lnTo>
                    <a:pt x="0" y="5437635"/>
                  </a:lnTo>
                  <a:close/>
                </a:path>
              </a:pathLst>
            </a:custGeom>
            <a:gradFill rotWithShape="true">
              <a:gsLst>
                <a:gs pos="2655">
                  <a:srgbClr val="FFFFFF">
                    <a:alpha val="100000"/>
                  </a:srgbClr>
                </a:gs>
                <a:gs pos="15000">
                  <a:srgbClr val="FFFFFF">
                    <a:alpha val="0"/>
                  </a:srgbClr>
                </a:gs>
                <a:gs pos="51000">
                  <a:srgbClr val="FFFFFF">
                    <a:alpha val="34000"/>
                  </a:srgbClr>
                </a:gs>
                <a:gs pos="94000">
                  <a:srgbClr val="FFFFFF">
                    <a:alpha val="3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00025"/>
              <a:ext cx="13658850" cy="563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80"/>
                </a:lnSpc>
              </a:pPr>
              <a:r>
                <a:rPr lang="en-US" sz="3600" i="true" spc="33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Submitted in the partial fulfillment for the award of the degree of</a:t>
              </a:r>
            </a:p>
            <a:p>
              <a:pPr algn="ctr">
                <a:lnSpc>
                  <a:spcPts val="6480"/>
                </a:lnSpc>
              </a:pPr>
              <a:r>
                <a:rPr lang="en-US" b="true" sz="3600" spc="33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BACHELOR OF ENGINEERING </a:t>
              </a:r>
            </a:p>
            <a:p>
              <a:pPr algn="ctr">
                <a:lnSpc>
                  <a:spcPts val="6480"/>
                </a:lnSpc>
              </a:pPr>
              <a:r>
                <a:rPr lang="en-US" sz="3600" i="true" spc="33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 IN</a:t>
              </a:r>
            </a:p>
            <a:p>
              <a:pPr algn="ctr">
                <a:lnSpc>
                  <a:spcPts val="6480"/>
                </a:lnSpc>
              </a:pPr>
              <a:r>
                <a:rPr lang="en-US" b="true" sz="3600" i="true" spc="33">
                  <a:solidFill>
                    <a:srgbClr val="000000"/>
                  </a:solidFill>
                  <a:latin typeface="TT Rounds Condensed Bold Italics"/>
                  <a:ea typeface="TT Rounds Condensed Bold Italics"/>
                  <a:cs typeface="TT Rounds Condensed Bold Italics"/>
                  <a:sym typeface="TT Rounds Condensed Bold Italics"/>
                </a:rPr>
                <a:t>Big Data Analytics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4744696" y="8000998"/>
            <a:ext cx="3549935" cy="2400302"/>
            <a:chOff x="0" y="0"/>
            <a:chExt cx="4733246" cy="32004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33290" cy="3200400"/>
            </a:xfrm>
            <a:custGeom>
              <a:avLst/>
              <a:gdLst/>
              <a:ahLst/>
              <a:cxnLst/>
              <a:rect r="r" b="b" t="t" l="l"/>
              <a:pathLst>
                <a:path h="3200400" w="4733290">
                  <a:moveTo>
                    <a:pt x="0" y="0"/>
                  </a:moveTo>
                  <a:lnTo>
                    <a:pt x="0" y="3200400"/>
                  </a:lnTo>
                  <a:lnTo>
                    <a:pt x="4733290" y="0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13478" y="9056010"/>
            <a:ext cx="7210032" cy="8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DISCOVER . </a:t>
            </a:r>
            <a:r>
              <a:rPr lang="en-US" sz="3000" b="true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LEARN</a:t>
            </a:r>
            <a:r>
              <a:rPr lang="en-US" sz="3000" b="true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. EMPOWER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328670" y="9065469"/>
            <a:ext cx="68578" cy="555930"/>
            <a:chOff x="0" y="0"/>
            <a:chExt cx="91438" cy="741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" cy="741299"/>
            </a:xfrm>
            <a:custGeom>
              <a:avLst/>
              <a:gdLst/>
              <a:ahLst/>
              <a:cxnLst/>
              <a:rect r="r" b="b" t="t" l="l"/>
              <a:pathLst>
                <a:path h="741299" w="91440">
                  <a:moveTo>
                    <a:pt x="0" y="0"/>
                  </a:moveTo>
                  <a:lnTo>
                    <a:pt x="91440" y="0"/>
                  </a:lnTo>
                  <a:lnTo>
                    <a:pt x="91440" y="741299"/>
                  </a:lnTo>
                  <a:lnTo>
                    <a:pt x="0" y="74129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56458" y="9038379"/>
            <a:ext cx="8641034" cy="58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true">
                <a:solidFill>
                  <a:srgbClr val="FF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 of AIT-CSE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96349" y="589796"/>
            <a:ext cx="12532766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Bio-Inspired Algorithms with SDN</a:t>
            </a:r>
          </a:p>
          <a:p>
            <a:r>
              <a:t>For Load-Balancing in Large-Scale Networks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07340" y="9580245"/>
            <a:ext cx="3931920" cy="45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16">
                <a:solidFill>
                  <a:srgbClr val="898989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21063" y="6598444"/>
            <a:ext cx="7692415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3" id="23"/>
          <p:cNvSpPr txBox="true"/>
          <p:nvPr/>
        </p:nvSpPr>
        <p:spPr>
          <a:xfrm rot="0">
            <a:off x="11613315" y="7124677"/>
            <a:ext cx="418064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SDN Basics</a:t>
            </a:r>
          </a:p>
          <a:p>
            <a:r>
              <a:t>Load Balancing Challenges</a:t>
            </a:r>
          </a:p>
          <a:p>
            <a:r>
              <a:t>Bio-Inspired Algorithms</a:t>
            </a:r>
          </a:p>
          <a:p>
            <a:r>
              <a:t>Integration with SDN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SDN separates control and data plane.</a:t>
            </a:r>
          </a:p>
          <a:p>
            <a:r>
              <a:t>Load-balancing is crucial for large networks.</a:t>
            </a:r>
          </a:p>
          <a:p>
            <a:r>
              <a:t>Bio-inspired algorithms mimic natural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DAGvdPK8I5I</dc:identifier>
  <dcterms:modified xsi:type="dcterms:W3CDTF">2011-08-01T06:04:30Z</dcterms:modified>
  <cp:revision>1</cp:revision>
  <dc:title>Copy of Copy of 3. Project PPT_Format.pptx</dc:title>
</cp:coreProperties>
</file>